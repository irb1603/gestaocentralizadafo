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Sistema de Gestão de</a:t>
            </a:r>
          </a:p>
          <a:p>
            <a:r>
              <a:t>Faltas Operacionais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Colégio Militar de Brasília</a:t>
            </a:r>
          </a:p>
          <a:p>
            <a:r>
              <a:t>Treinamento para Novos Operadores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📋 Conteúdo do Treinamento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O que é o Sistema de FO?</a:t>
            </a:r>
          </a:p>
          <a:p>
            <a:pPr>
              <a:defRPr sz="2000"/>
            </a:pPr>
            <a:r>
              <a:t>2. Tipos de Usuários e Permissões</a:t>
            </a:r>
          </a:p>
          <a:p>
            <a:pPr>
              <a:defRPr sz="2000"/>
            </a:pPr>
            <a:r>
              <a:t>3. Fluxo Completo das Sanções Disciplinares</a:t>
            </a:r>
          </a:p>
          <a:p>
            <a:pPr>
              <a:defRPr sz="2000"/>
            </a:pPr>
            <a:r>
              <a:t>4. Como Registrar um FO</a:t>
            </a:r>
          </a:p>
          <a:p>
            <a:pPr>
              <a:defRPr sz="2000"/>
            </a:pPr>
            <a:r>
              <a:t>5. Sistema de Enquadramento (RICM)</a:t>
            </a:r>
          </a:p>
          <a:p>
            <a:pPr>
              <a:defRPr sz="2000"/>
            </a:pPr>
            <a:r>
              <a:t>6. Status e Etapas do Processo</a:t>
            </a:r>
          </a:p>
          <a:p>
            <a:pPr>
              <a:defRPr sz="2000"/>
            </a:pPr>
            <a:r>
              <a:t>7. Geração de Documentos</a:t>
            </a:r>
          </a:p>
          <a:p>
            <a:pPr>
              <a:defRPr sz="2000"/>
            </a:pPr>
            <a:r>
              <a:t>8. Assistente de IA</a:t>
            </a:r>
          </a:p>
          <a:p>
            <a:pPr>
              <a:defRPr sz="2000"/>
            </a:pPr>
            <a:r>
              <a:t>9. Boas Práticas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🎯 O que é o Sistema de FO?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Sistema web para gestão centralizada de Fatos Observados (FO) de alunos</a:t>
            </a:r>
          </a:p>
          <a:p>
            <a:pPr>
              <a:defRPr sz="2000"/>
            </a:pPr>
            <a:r>
              <a:t>Automatiza todo o processo disciplinar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Objetivos:</a:t>
            </a:r>
          </a:p>
          <a:p>
            <a:pPr>
              <a:defRPr sz="2000"/>
            </a:pPr>
            <a:r>
              <a:t>• Registrar fatos (positivos/negativos/neutros)</a:t>
            </a:r>
          </a:p>
          <a:p>
            <a:pPr>
              <a:defRPr sz="2000"/>
            </a:pPr>
            <a:r>
              <a:t>• Aplicar sanções conforme RICM</a:t>
            </a:r>
          </a:p>
          <a:p>
            <a:pPr>
              <a:defRPr sz="2000"/>
            </a:pPr>
            <a:r>
              <a:t>• Gerar documentação automática</a:t>
            </a:r>
          </a:p>
          <a:p>
            <a:pPr>
              <a:defRPr sz="2000"/>
            </a:pPr>
            <a:r>
              <a:t>• Controlar fluxo processual</a:t>
            </a:r>
          </a:p>
          <a:p>
            <a:pPr>
              <a:defRPr sz="2000"/>
            </a:pPr>
            <a:r>
              <a:t>• Manter rastreabilidade completa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📊 Tipos de 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✅ POSITIVO</a:t>
            </a:r>
          </a:p>
          <a:p>
            <a:pPr>
              <a:defRPr sz="2000"/>
            </a:pPr>
            <a:r>
              <a:t>   Reconhecimento de ações meritórias</a:t>
            </a:r>
          </a:p>
          <a:p>
            <a:pPr>
              <a:defRPr sz="2000"/>
            </a:pPr>
            <a:r>
              <a:t>   Ex: Ajudar colega, iniciativa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❌ NEGATIVO</a:t>
            </a:r>
          </a:p>
          <a:p>
            <a:pPr>
              <a:defRPr sz="2000"/>
            </a:pPr>
            <a:r>
              <a:t>   Violação de normas disciplinares</a:t>
            </a:r>
          </a:p>
          <a:p>
            <a:pPr>
              <a:defRPr sz="2000"/>
            </a:pPr>
            <a:r>
              <a:t>   Ex: Uso de celular, atraso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⚪ NEUTRO</a:t>
            </a:r>
          </a:p>
          <a:p>
            <a:pPr>
              <a:defRPr sz="2000"/>
            </a:pPr>
            <a:r>
              <a:t>   Registro informativo sem sanção</a:t>
            </a:r>
          </a:p>
          <a:p>
            <a:pPr>
              <a:defRPr sz="2000"/>
            </a:pPr>
            <a:r>
              <a:t>   Ex: Observação de comportamento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👥 Tipos de Usuários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🛡️ ADMIN - Acesso total ao sistema</a:t>
            </a:r>
          </a:p>
          <a:p>
            <a:pPr>
              <a:defRPr sz="2000"/>
            </a:pPr>
            <a:r>
              <a:t>⭐ COMANDO CA - Supervisão geral</a:t>
            </a:r>
          </a:p>
          <a:p>
            <a:pPr>
              <a:defRPr sz="2000"/>
            </a:pPr>
            <a:r>
              <a:t>👤 COMANDANTE DE CIA - FOs da sua companhia</a:t>
            </a:r>
          </a:p>
          <a:p>
            <a:pPr>
              <a:defRPr sz="2000"/>
            </a:pPr>
            <a:r>
              <a:t>🎖️ SARGENTO DE CIA - FOs da sua companhia</a:t>
            </a:r>
          </a:p>
          <a:p>
            <a:pPr>
              <a:defRPr sz="2000"/>
            </a:pPr>
            <a:r>
              <a:t>📝 AUXILIAR - Acesso restrito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🛡️ Perfil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Acesso Total:</a:t>
            </a:r>
          </a:p>
          <a:p>
            <a:pPr>
              <a:defRPr sz="2000"/>
            </a:pPr>
            <a:r>
              <a:t>✓ Ver/editar/deletar todos os FOs</a:t>
            </a:r>
          </a:p>
          <a:p>
            <a:pPr>
              <a:defRPr sz="2000"/>
            </a:pPr>
            <a:r>
              <a:t>✓ Acesso a todas as companhias</a:t>
            </a:r>
          </a:p>
          <a:p>
            <a:pPr>
              <a:defRPr sz="2000"/>
            </a:pPr>
            <a:r>
              <a:t>✓ Editar dados de alunos</a:t>
            </a:r>
          </a:p>
          <a:p>
            <a:pPr>
              <a:defRPr sz="2000"/>
            </a:pPr>
            <a:r>
              <a:t>✓ Acessar auditoria completa</a:t>
            </a:r>
          </a:p>
          <a:p>
            <a:pPr>
              <a:defRPr sz="2000"/>
            </a:pPr>
            <a:r>
              <a:t>✓ Administração do 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👤 Perfil Comandante de Companhia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Acesso Limitado:</a:t>
            </a:r>
          </a:p>
          <a:p>
            <a:pPr>
              <a:defRPr sz="2000"/>
            </a:pPr>
            <a:r>
              <a:t>✓ Ver FOs da sua companhia</a:t>
            </a:r>
          </a:p>
          <a:p>
            <a:pPr>
              <a:defRPr sz="2000"/>
            </a:pPr>
            <a:r>
              <a:t>✓ Editar FOs da sua companhia</a:t>
            </a:r>
          </a:p>
          <a:p>
            <a:pPr>
              <a:defRPr sz="2000"/>
            </a:pPr>
            <a:r>
              <a:t>✓ Acessar auditoria</a:t>
            </a:r>
          </a:p>
          <a:p>
            <a:pPr>
              <a:defRPr sz="2000"/>
            </a:pPr>
            <a:r>
              <a:t>✗ Ver outras companhias</a:t>
            </a:r>
          </a:p>
          <a:p>
            <a:pPr>
              <a:defRPr sz="2000"/>
            </a:pPr>
            <a:r>
              <a:t>✗ Deletar FOs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</a:defRPr>
            </a:pPr>
            <a:r>
              <a:t>🔄 Fluxo Completo das Sanções Disciplinares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1. REGISTRO → 2. ANÁLISE → 3. SANÇÃO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4. CONSOLIDAR → 5. CONCLUIR → 6. ENCERRADO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📝 Como Registrar um FO?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Acessar public-fo.html</a:t>
            </a:r>
          </a:p>
          <a:p>
            <a:pPr>
              <a:defRPr sz="2000"/>
            </a:pPr>
            <a:r>
              <a:t>2. Validar com usuário/senha de registrador</a:t>
            </a:r>
          </a:p>
          <a:p>
            <a:pPr>
              <a:defRPr sz="2000"/>
            </a:pPr>
            <a:r>
              <a:t>3. Preencher formulário:</a:t>
            </a:r>
          </a:p>
          <a:p>
            <a:pPr>
              <a:defRPr sz="2000"/>
            </a:pPr>
            <a:r>
              <a:t>   • Ano Escolar (6ª a 3ª Cia)</a:t>
            </a:r>
          </a:p>
          <a:p>
            <a:pPr>
              <a:defRPr sz="2000"/>
            </a:pPr>
            <a:r>
              <a:t>   • Número(s) do aluno</a:t>
            </a:r>
          </a:p>
          <a:p>
            <a:pPr>
              <a:defRPr sz="2000"/>
            </a:pPr>
            <a:r>
              <a:t>   • Tipo: Positivo/Negativo/Neutro</a:t>
            </a:r>
          </a:p>
          <a:p>
            <a:pPr>
              <a:defRPr sz="2000"/>
            </a:pPr>
            <a:r>
              <a:t>   • Data e hora do fato</a:t>
            </a:r>
          </a:p>
          <a:p>
            <a:pPr>
              <a:defRPr sz="2000"/>
            </a:pPr>
            <a:r>
              <a:t>   • Descrição detalhada</a:t>
            </a:r>
          </a:p>
          <a:p>
            <a:pPr>
              <a:defRPr sz="2000"/>
            </a:pPr>
            <a:r>
              <a:t>   • Nome do observador</a:t>
            </a:r>
          </a:p>
          <a:p>
            <a:pPr>
              <a:defRPr sz="2000"/>
            </a:pPr>
            <a:r>
              <a:t>4. Enviar → Status: PENDENTE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📖 Sistema de Enquadramento RICM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Regulamento Interno dos Colégios Militares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📋 46 Faltas Disciplinares</a:t>
            </a:r>
          </a:p>
          <a:p>
            <a:pPr>
              <a:defRPr sz="2000"/>
            </a:pPr>
            <a:r>
              <a:t>⬇️ 8 Circunstâncias Atenuantes</a:t>
            </a:r>
          </a:p>
          <a:p>
            <a:pPr>
              <a:defRPr sz="2000"/>
            </a:pPr>
            <a:r>
              <a:t>⬆️ 10 Circunstâncias Agravantes</a:t>
            </a:r>
          </a:p>
          <a:p>
            <a:pPr>
              <a:defRPr sz="2000"/>
            </a:pPr>
            <a:r>
              <a:t>⚖️ 4 Tipos de Sanções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📋 Exemplos de Faltas RICM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Art. 1 - Faltar à verdade</a:t>
            </a:r>
          </a:p>
          <a:p>
            <a:pPr>
              <a:defRPr sz="2000"/>
            </a:pPr>
            <a:r>
              <a:t>Art. 3 - Chegar atrasado</a:t>
            </a:r>
          </a:p>
          <a:p>
            <a:pPr>
              <a:defRPr sz="2000"/>
            </a:pPr>
            <a:r>
              <a:t>Art. 4 - Uniforme inadequado</a:t>
            </a:r>
          </a:p>
          <a:p>
            <a:pPr>
              <a:defRPr sz="2000"/>
            </a:pPr>
            <a:r>
              <a:t>Art. 8 - Não apresentar trabalhos</a:t>
            </a:r>
          </a:p>
          <a:p>
            <a:pPr>
              <a:defRPr sz="2000"/>
            </a:pPr>
            <a:r>
              <a:t>Art. 10 - Ocupar-se com outro trabalho em aula</a:t>
            </a:r>
          </a:p>
          <a:p>
            <a:pPr>
              <a:defRPr sz="2000"/>
            </a:pPr>
            <a:r>
              <a:t>Art. 20 - Usar celular em atividades escolares ⭐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+ 40 artigos adicionais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⬇️ Circunstâncias ATENUANTES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Reduzem a severidade da sanção: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Matriculado há menos de 3 meses</a:t>
            </a:r>
          </a:p>
          <a:p>
            <a:pPr>
              <a:defRPr sz="2000"/>
            </a:pPr>
            <a:r>
              <a:t>• Ser criança ou adolescente</a:t>
            </a:r>
          </a:p>
          <a:p>
            <a:pPr>
              <a:defRPr sz="2000"/>
            </a:pPr>
            <a:r>
              <a:t>• Comportamento BOM/ÓTIMO/EXCEPCIONAL</a:t>
            </a:r>
          </a:p>
          <a:p>
            <a:pPr>
              <a:defRPr sz="2000"/>
            </a:pPr>
            <a:r>
              <a:t>• Primeira falta</a:t>
            </a:r>
          </a:p>
          <a:p>
            <a:pPr>
              <a:defRPr sz="2000"/>
            </a:pPr>
            <a:r>
              <a:t>• Falta de prática nas atividades</a:t>
            </a:r>
          </a:p>
          <a:p>
            <a:pPr>
              <a:defRPr sz="2000"/>
            </a:pPr>
            <a:r>
              <a:t>• Relevância de ações prestadas</a:t>
            </a:r>
          </a:p>
          <a:p>
            <a:pPr>
              <a:defRPr sz="2000"/>
            </a:pPr>
            <a:r>
              <a:t>• Evitar mal maior</a:t>
            </a:r>
          </a:p>
          <a:p>
            <a:pPr>
              <a:defRPr sz="2000"/>
            </a:pPr>
            <a:r>
              <a:t>• Defesa própria de direitos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⬆️ Circunstâncias AGRAVANTES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Aumentam a severidade da sanção: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Ser oficial-aluno ou graduado</a:t>
            </a:r>
          </a:p>
          <a:p>
            <a:pPr>
              <a:defRPr sz="2000"/>
            </a:pPr>
            <a:r>
              <a:t>• Comportamento REGULAR/INSUF./MAU</a:t>
            </a:r>
          </a:p>
          <a:p>
            <a:pPr>
              <a:defRPr sz="2000"/>
            </a:pPr>
            <a:r>
              <a:t>• Falta em atividade escolar ⭐</a:t>
            </a:r>
          </a:p>
          <a:p>
            <a:pPr>
              <a:defRPr sz="2000"/>
            </a:pPr>
            <a:r>
              <a:t>• REINCIDÊNCIA no mesmo tipo ⭐⭐</a:t>
            </a:r>
          </a:p>
          <a:p>
            <a:pPr>
              <a:defRPr sz="2000"/>
            </a:pPr>
            <a:r>
              <a:t>• Prática simultânea de 2+ faltas</a:t>
            </a:r>
          </a:p>
          <a:p>
            <a:pPr>
              <a:defRPr sz="2000"/>
            </a:pPr>
            <a:r>
              <a:t>• Conluio (2+ alunos)</a:t>
            </a:r>
          </a:p>
          <a:p>
            <a:pPr>
              <a:defRPr sz="2000"/>
            </a:pPr>
            <a:r>
              <a:t>• Falta em público na presença de tropa</a:t>
            </a:r>
          </a:p>
          <a:p>
            <a:pPr>
              <a:defRPr sz="2000"/>
            </a:pPr>
            <a:r>
              <a:t>• Ação premeditada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🎯 Classificação e Sanções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LEVE → Advertência</a:t>
            </a:r>
          </a:p>
          <a:p>
            <a:pPr>
              <a:defRPr sz="2000"/>
            </a:pPr>
            <a:r>
              <a:t>   Menor sanção, registro interno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MÉDIA → Repreensão</a:t>
            </a:r>
          </a:p>
          <a:p>
            <a:pPr>
              <a:defRPr sz="2000"/>
            </a:pPr>
            <a:r>
              <a:t>   Gera Nota de Aditamento ao BI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GRAVE → AOE (Atividade de Orientação Educacional)</a:t>
            </a:r>
          </a:p>
          <a:p>
            <a:pPr>
              <a:defRPr sz="2000"/>
            </a:pPr>
            <a:r>
              <a:t>   Atividade educacional + dias de cumprimento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GRAVÍSSIMA → Retirada</a:t>
            </a:r>
          </a:p>
          <a:p>
            <a:pPr>
              <a:defRPr sz="2000"/>
            </a:pPr>
            <a:r>
              <a:t>   Retirada suspensiva + datas de cumprimento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1️⃣ Status: PENDENTE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 que é?</a:t>
            </a:r>
          </a:p>
          <a:p>
            <a:pPr>
              <a:defRPr sz="2000"/>
            </a:pPr>
            <a:r>
              <a:t>• FO recém-registrado aguardando análise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 que fazer?</a:t>
            </a:r>
          </a:p>
          <a:p>
            <a:pPr>
              <a:defRPr sz="2000"/>
            </a:pPr>
            <a:r>
              <a:t>• Revisar a descrição do fato</a:t>
            </a:r>
          </a:p>
          <a:p>
            <a:pPr>
              <a:defRPr sz="2000"/>
            </a:pPr>
            <a:r>
              <a:t>• Verificar dados do aluno</a:t>
            </a:r>
          </a:p>
          <a:p>
            <a:pPr>
              <a:defRPr sz="2000"/>
            </a:pPr>
            <a:r>
              <a:t>• Decidir se é sancionável</a:t>
            </a:r>
          </a:p>
          <a:p>
            <a:pPr>
              <a:defRPr sz="2000"/>
            </a:pPr>
            <a:r>
              <a:t>• Enquadrar no RICM</a:t>
            </a:r>
          </a:p>
          <a:p>
            <a:pPr>
              <a:defRPr sz="2000"/>
            </a:pPr>
            <a:r>
              <a:t>• Mover para próximo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2️⃣ Status: ADVERTÊNCIA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Quando usar?</a:t>
            </a:r>
          </a:p>
          <a:p>
            <a:pPr>
              <a:defRPr sz="2000"/>
            </a:pPr>
            <a:r>
              <a:t>• Faltas classificadas como LEVE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Características:</a:t>
            </a:r>
          </a:p>
          <a:p>
            <a:pPr>
              <a:defRPr sz="2000"/>
            </a:pPr>
            <a:r>
              <a:t>• Menor sanção do sistema</a:t>
            </a:r>
          </a:p>
          <a:p>
            <a:pPr>
              <a:defRPr sz="2000"/>
            </a:pPr>
            <a:r>
              <a:t>• Registro interno (não vai ao BI)</a:t>
            </a:r>
          </a:p>
          <a:p>
            <a:pPr>
              <a:defRPr sz="2000"/>
            </a:pPr>
            <a:r>
              <a:t>• Impacta nota de comportamento</a:t>
            </a:r>
          </a:p>
          <a:p>
            <a:pPr>
              <a:defRPr sz="2000"/>
            </a:pPr>
            <a:r>
              <a:t>• Não requer documentação externa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💡 Ideal para faltas isoladas de menor gravidade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3️⃣ Status: REPREENSÃO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Quando usar?</a:t>
            </a:r>
          </a:p>
          <a:p>
            <a:pPr>
              <a:defRPr sz="2000"/>
            </a:pPr>
            <a:r>
              <a:t>• Faltas classificadas como MÉDIA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Características:</a:t>
            </a:r>
          </a:p>
          <a:p>
            <a:pPr>
              <a:defRPr sz="2000"/>
            </a:pPr>
            <a:r>
              <a:t>• Sanção intermediária</a:t>
            </a:r>
          </a:p>
          <a:p>
            <a:pPr>
              <a:defRPr sz="2000"/>
            </a:pPr>
            <a:r>
              <a:t>• GERA Nota de Aditamento ao BI</a:t>
            </a:r>
          </a:p>
          <a:p>
            <a:pPr>
              <a:defRPr sz="2000"/>
            </a:pPr>
            <a:r>
              <a:t>• Impacto maior no comportamento</a:t>
            </a:r>
          </a:p>
          <a:p>
            <a:pPr>
              <a:defRPr sz="2000"/>
            </a:pPr>
            <a:r>
              <a:t>• Requer comunicação aos responsáveis</a:t>
            </a:r>
          </a:p>
          <a:p>
            <a:pPr>
              <a:defRPr sz="2000"/>
            </a:pPr>
            <a:r>
              <a:t>• Não tem dias de cumprimento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⚠️ Data de aditamento ao BI é obrigatória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4️⃣ Status: ATIVIDADE OE (AOE)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Quando usar?</a:t>
            </a:r>
          </a:p>
          <a:p>
            <a:pPr>
              <a:defRPr sz="2000"/>
            </a:pPr>
            <a:r>
              <a:t>• Faltas classificadas como GRAVE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Características:</a:t>
            </a:r>
          </a:p>
          <a:p>
            <a:pPr>
              <a:defRPr sz="2000"/>
            </a:pPr>
            <a:r>
              <a:t>• Atividade de Orientação Educacional</a:t>
            </a:r>
          </a:p>
          <a:p>
            <a:pPr>
              <a:defRPr sz="2000"/>
            </a:pPr>
            <a:r>
              <a:t>• Sanção pedagógica e corretiva</a:t>
            </a:r>
          </a:p>
          <a:p>
            <a:pPr>
              <a:defRPr sz="2000"/>
            </a:pPr>
            <a:r>
              <a:t>• REQUER número de dias</a:t>
            </a:r>
          </a:p>
          <a:p>
            <a:pPr>
              <a:defRPr sz="2000"/>
            </a:pPr>
            <a:r>
              <a:t>• Aluno cumpre atividades específicas</a:t>
            </a:r>
          </a:p>
          <a:p>
            <a:pPr>
              <a:defRPr sz="2000"/>
            </a:pPr>
            <a:r>
              <a:t>• Gera Nota de Aditamento ao BI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💡 Use campo 'Datas de Cumprimento' para acompanhar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5️⃣ Status: RETIRADA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Quando usar?</a:t>
            </a:r>
          </a:p>
          <a:p>
            <a:pPr>
              <a:defRPr sz="2000"/>
            </a:pPr>
            <a:r>
              <a:t>• Faltas classificadas como GRAVÍSSIMA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Características:</a:t>
            </a:r>
          </a:p>
          <a:p>
            <a:pPr>
              <a:defRPr sz="2000"/>
            </a:pPr>
            <a:r>
              <a:t>• SANÇÃO MAIS SEVERA</a:t>
            </a:r>
          </a:p>
          <a:p>
            <a:pPr>
              <a:defRPr sz="2000"/>
            </a:pPr>
            <a:r>
              <a:t>• Retirada suspensiva do aluno</a:t>
            </a:r>
          </a:p>
          <a:p>
            <a:pPr>
              <a:defRPr sz="2000"/>
            </a:pPr>
            <a:r>
              <a:t>• Aluno é afastado por X dias</a:t>
            </a:r>
          </a:p>
          <a:p>
            <a:pPr>
              <a:defRPr sz="2000"/>
            </a:pPr>
            <a:r>
              <a:t>• Requer autorização superior</a:t>
            </a:r>
          </a:p>
          <a:p>
            <a:pPr>
              <a:defRPr sz="2000"/>
            </a:pPr>
            <a:r>
              <a:t>• Gera documentação completa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⚠️ Requer processo disciplinar completo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6️⃣ Status: CONSOLIDAR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 que é?</a:t>
            </a:r>
          </a:p>
          <a:p>
            <a:pPr>
              <a:defRPr sz="2000"/>
            </a:pPr>
            <a:r>
              <a:t>• Etapa de consolidação das sanções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 que acontece?</a:t>
            </a:r>
          </a:p>
          <a:p>
            <a:pPr>
              <a:defRPr sz="2000"/>
            </a:pPr>
            <a:r>
              <a:t>• Revisão final de todos os dados</a:t>
            </a:r>
          </a:p>
          <a:p>
            <a:pPr>
              <a:defRPr sz="2000"/>
            </a:pPr>
            <a:r>
              <a:t>• ATUALIZAÇÃO da nota de comportamento</a:t>
            </a:r>
          </a:p>
          <a:p>
            <a:pPr>
              <a:defRPr sz="2000"/>
            </a:pPr>
            <a:r>
              <a:t>• Verificação de documentos</a:t>
            </a:r>
          </a:p>
          <a:p>
            <a:pPr>
              <a:defRPr sz="2000"/>
            </a:pPr>
            <a:r>
              <a:t>• Preparação para conclusão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✓ Verificar: enquadramento, sanção, agravantes, atenuantes, datas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7️⃣ Status: CONCLUIR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Checklist antes de concluir: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☑️ Nota de aditamento gerada</a:t>
            </a:r>
          </a:p>
          <a:p>
            <a:pPr>
              <a:defRPr sz="2000"/>
            </a:pPr>
            <a:r>
              <a:t>☑️ Responsáveis comunicados</a:t>
            </a:r>
          </a:p>
          <a:p>
            <a:pPr>
              <a:defRPr sz="2000"/>
            </a:pPr>
            <a:r>
              <a:t>☑️ Termo de ciência assinado (se aplicável)</a:t>
            </a:r>
          </a:p>
          <a:p>
            <a:pPr>
              <a:defRPr sz="2000"/>
            </a:pPr>
            <a:r>
              <a:t>☑️ Comportamento atualizado</a:t>
            </a:r>
          </a:p>
          <a:p>
            <a:pPr>
              <a:defRPr sz="2000"/>
            </a:pPr>
            <a:r>
              <a:t>☑️ Todos os documentos anexados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8️⃣ Status: ENCERRADO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 que é?</a:t>
            </a:r>
          </a:p>
          <a:p>
            <a:pPr>
              <a:defRPr sz="2000"/>
            </a:pPr>
            <a:r>
              <a:t>• FO completamente processado e arquivado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Características:</a:t>
            </a:r>
          </a:p>
          <a:p>
            <a:pPr>
              <a:defRPr sz="2000"/>
            </a:pPr>
            <a:r>
              <a:t>• Status final do fluxo</a:t>
            </a:r>
          </a:p>
          <a:p>
            <a:pPr>
              <a:defRPr sz="2000"/>
            </a:pPr>
            <a:r>
              <a:t>• FO não pode ser editado (apenas Admin)</a:t>
            </a:r>
          </a:p>
          <a:p>
            <a:pPr>
              <a:defRPr sz="2000"/>
            </a:pPr>
            <a:r>
              <a:t>• Todos os documentos gerados</a:t>
            </a:r>
          </a:p>
          <a:p>
            <a:pPr>
              <a:defRPr sz="2000"/>
            </a:pPr>
            <a:r>
              <a:t>• Processo completo e rastreável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Uso: Consulta, relatórios, auditoria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📄 Geração de 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📋 Nota para Aditamento ao BI</a:t>
            </a:r>
          </a:p>
          <a:p>
            <a:pPr>
              <a:defRPr sz="2000"/>
            </a:pPr>
            <a:r>
              <a:t>   • Formato: DOCX (Word)</a:t>
            </a:r>
          </a:p>
          <a:p>
            <a:pPr>
              <a:defRPr sz="2000"/>
            </a:pPr>
            <a:r>
              <a:t>   • Para: Repreensão, AOE, Retirada</a:t>
            </a:r>
          </a:p>
          <a:p>
            <a:pPr>
              <a:defRPr sz="2000"/>
            </a:pPr>
            <a:r>
              <a:t>   • Agrupa FOs por data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📑 Processo Disciplinar</a:t>
            </a:r>
          </a:p>
          <a:p>
            <a:pPr>
              <a:defRPr sz="2000"/>
            </a:pPr>
            <a:r>
              <a:t>   • Formato: PDF</a:t>
            </a:r>
          </a:p>
          <a:p>
            <a:pPr>
              <a:defRPr sz="2000"/>
            </a:pPr>
            <a:r>
              <a:t>   • Documento completo com histórico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✍️ Termo de Ciência</a:t>
            </a:r>
          </a:p>
          <a:p>
            <a:pPr>
              <a:defRPr sz="2000"/>
            </a:pPr>
            <a:r>
              <a:t>   • Upload de arquivo ou câmera</a:t>
            </a:r>
          </a:p>
          <a:p>
            <a:pPr>
              <a:defRPr sz="2000"/>
            </a:pPr>
            <a:r>
              <a:t>   • Formatos: PDF, JPEG, 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📋 Nota de Aditamento - Estrutura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Conteúdo do documento: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Cabeçalho: NOTA PARA ADITAMENTO AO BI</a:t>
            </a:r>
          </a:p>
          <a:p>
            <a:pPr>
              <a:defRPr sz="2000"/>
            </a:pPr>
            <a:r>
              <a:t>• Nome da Companhia</a:t>
            </a:r>
          </a:p>
          <a:p>
            <a:pPr>
              <a:defRPr sz="2000"/>
            </a:pPr>
            <a:r>
              <a:t>• Data do Aditamento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Seções por tipo de sanção:</a:t>
            </a:r>
          </a:p>
          <a:p>
            <a:pPr>
              <a:defRPr sz="2000"/>
            </a:pPr>
            <a:r>
              <a:t>• REPREENSÃO</a:t>
            </a:r>
          </a:p>
          <a:p>
            <a:pPr>
              <a:defRPr sz="2000"/>
            </a:pPr>
            <a:r>
              <a:t>• AOE (Atividade de Orientação Educacional)</a:t>
            </a:r>
          </a:p>
          <a:p>
            <a:pPr>
              <a:defRPr sz="2000"/>
            </a:pPr>
            <a:r>
              <a:t>• RETIRADA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Para cada aluno: dados, enquadramento, sanção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🤖 Assistente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Google Gemini integrado ao sistema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Capacidades:</a:t>
            </a:r>
          </a:p>
          <a:p>
            <a:pPr>
              <a:defRPr sz="2000"/>
            </a:pPr>
            <a:r>
              <a:t>📊 Estatísticas de FOs</a:t>
            </a:r>
          </a:p>
          <a:p>
            <a:pPr>
              <a:defRPr sz="2000"/>
            </a:pPr>
            <a:r>
              <a:t>👤 Identificar observadores</a:t>
            </a:r>
          </a:p>
          <a:p>
            <a:pPr>
              <a:defRPr sz="2000"/>
            </a:pPr>
            <a:r>
              <a:t>📋 FOs para aditamento</a:t>
            </a:r>
          </a:p>
          <a:p>
            <a:pPr>
              <a:defRPr sz="2000"/>
            </a:pPr>
            <a:r>
              <a:t>⚖️ Sugestão de enquadramento RICM</a:t>
            </a:r>
          </a:p>
          <a:p>
            <a:pPr>
              <a:defRPr sz="2000"/>
            </a:pPr>
            <a:r>
              <a:t>📈 Análise de faltas escolares</a:t>
            </a:r>
          </a:p>
          <a:p>
            <a:pPr>
              <a:defRPr sz="2000"/>
            </a:pPr>
            <a:r>
              <a:t>📚 Análise de comportamento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💬 Disponível em todas as telas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🎯 IA: Sugestão de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Como funciona?</a:t>
            </a:r>
          </a:p>
          <a:p>
            <a:pPr>
              <a:defRPr sz="2000"/>
            </a:pPr>
            <a:r>
              <a:t>1. Descreva o fato para a IA</a:t>
            </a:r>
          </a:p>
          <a:p>
            <a:pPr>
              <a:defRPr sz="2000"/>
            </a:pPr>
            <a:r>
              <a:t>2. IA analisa o RICM completo</a:t>
            </a:r>
          </a:p>
          <a:p>
            <a:pPr>
              <a:defRPr sz="2000"/>
            </a:pPr>
            <a:r>
              <a:t>3. Retorna:</a:t>
            </a:r>
          </a:p>
          <a:p>
            <a:pPr>
              <a:defRPr sz="2000"/>
            </a:pPr>
            <a:r>
              <a:t>   • Artigo(s) aplicável(is)</a:t>
            </a:r>
          </a:p>
          <a:p>
            <a:pPr>
              <a:defRPr sz="2000"/>
            </a:pPr>
            <a:r>
              <a:t>   • Agravantes sugeridos</a:t>
            </a:r>
          </a:p>
          <a:p>
            <a:pPr>
              <a:defRPr sz="2000"/>
            </a:pPr>
            <a:r>
              <a:t>   • Atenuantes sugeridos</a:t>
            </a:r>
          </a:p>
          <a:p>
            <a:pPr>
              <a:defRPr sz="2000"/>
            </a:pPr>
            <a:r>
              <a:t>   • Classificação provável</a:t>
            </a:r>
          </a:p>
          <a:p>
            <a:pPr>
              <a:defRPr sz="2000"/>
            </a:pPr>
            <a:r>
              <a:t>4. Você decide se aceita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⚠️ IA é auxílio, não substituição!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✅ Boas Práticas: Registro de 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FAÇA:</a:t>
            </a:r>
          </a:p>
          <a:p>
            <a:pPr>
              <a:defRPr sz="2000"/>
            </a:pPr>
            <a:r>
              <a:t>✓ Descrição objetiva e clara</a:t>
            </a:r>
          </a:p>
          <a:p>
            <a:pPr>
              <a:defRPr sz="2000"/>
            </a:pPr>
            <a:r>
              <a:t>✓ Data e hora exatas</a:t>
            </a:r>
          </a:p>
          <a:p>
            <a:pPr>
              <a:defRPr sz="2000"/>
            </a:pPr>
            <a:r>
              <a:t>✓ Seja específico</a:t>
            </a:r>
          </a:p>
          <a:p>
            <a:pPr>
              <a:defRPr sz="2000"/>
            </a:pPr>
            <a:r>
              <a:t>✓ Linguagem profissional</a:t>
            </a:r>
          </a:p>
          <a:p>
            <a:pPr>
              <a:defRPr sz="2000"/>
            </a:pPr>
            <a:r>
              <a:t>✓ Registre logo após o fato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NÃO FAÇA:</a:t>
            </a:r>
          </a:p>
          <a:p>
            <a:pPr>
              <a:defRPr sz="2000"/>
            </a:pPr>
            <a:r>
              <a:t>✗ Linguagem vaga</a:t>
            </a:r>
          </a:p>
          <a:p>
            <a:pPr>
              <a:defRPr sz="2000"/>
            </a:pPr>
            <a:r>
              <a:t>✗ Opiniões pessoais</a:t>
            </a:r>
          </a:p>
          <a:p>
            <a:pPr>
              <a:defRPr sz="2000"/>
            </a:pPr>
            <a:r>
              <a:t>✗ Deixar campos em branco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✅ Boas Práticas: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🎯 Proporcionalidade</a:t>
            </a:r>
          </a:p>
          <a:p>
            <a:pPr>
              <a:defRPr sz="2000"/>
            </a:pPr>
            <a:r>
              <a:t>• Sanção proporcional à gravidade</a:t>
            </a:r>
          </a:p>
          <a:p>
            <a:pPr>
              <a:defRPr sz="2000"/>
            </a:pPr>
            <a:r>
              <a:t>• Considere agravantes e atenuantes</a:t>
            </a:r>
          </a:p>
          <a:p>
            <a:pPr>
              <a:defRPr sz="2000"/>
            </a:pPr>
            <a:r>
              <a:t>• Analise histórico do aluno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📖 Consulte o RICM</a:t>
            </a:r>
          </a:p>
          <a:p>
            <a:pPr>
              <a:defRPr sz="2000"/>
            </a:pPr>
            <a:r>
              <a:t>• Sempre baseie-se no RICM</a:t>
            </a:r>
          </a:p>
          <a:p>
            <a:pPr>
              <a:defRPr sz="2000"/>
            </a:pPr>
            <a:r>
              <a:t>• IA como auxílio, não decisão final</a:t>
            </a:r>
          </a:p>
          <a:p>
            <a:pPr>
              <a:defRPr sz="2000"/>
            </a:pPr>
            <a:r>
              <a:t>• Documente artigo aplicado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📄 Documentação completa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⚠️ Erros Comuns a Evitar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❌ Esquecer data de aditamento</a:t>
            </a:r>
          </a:p>
          <a:p>
            <a:pPr>
              <a:defRPr sz="2000"/>
            </a:pPr>
            <a:r>
              <a:t>   → Defina antes de consolidar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❌ Não considerar agravantes/atenuantes</a:t>
            </a:r>
          </a:p>
          <a:p>
            <a:pPr>
              <a:defRPr sz="2000"/>
            </a:pPr>
            <a:r>
              <a:t>   → Consulte lista completa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❌ Sanção desproporcional</a:t>
            </a:r>
          </a:p>
          <a:p>
            <a:pPr>
              <a:defRPr sz="2000"/>
            </a:pPr>
            <a:r>
              <a:t>   → Use IA e consulte histórico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❌ Não obter termo de ciência</a:t>
            </a:r>
          </a:p>
          <a:p>
            <a:pPr>
              <a:defRPr sz="2000"/>
            </a:pPr>
            <a:r>
              <a:t>   → Sempre faça upload do termo assinado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🔄 Dicas de Fluxo de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Processar FOs regularmente</a:t>
            </a:r>
          </a:p>
          <a:p>
            <a:pPr>
              <a:defRPr sz="2000"/>
            </a:pPr>
            <a:r>
              <a:t>   Não deixe acumular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Verificar antes de consolidar</a:t>
            </a:r>
          </a:p>
          <a:p>
            <a:pPr>
              <a:defRPr sz="2000"/>
            </a:pPr>
            <a:r>
              <a:t>   Revise todos os dados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3. Usar filtros</a:t>
            </a:r>
          </a:p>
          <a:p>
            <a:pPr>
              <a:defRPr sz="2000"/>
            </a:pPr>
            <a:r>
              <a:t>   Organize por status, data, companhia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4. Acompanhar comportamento</a:t>
            </a:r>
          </a:p>
          <a:p>
            <a:pPr>
              <a:defRPr sz="2000"/>
            </a:pPr>
            <a:r>
              <a:t>   Monitore impacto das sanções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🛠️ Recursos Adicionais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📈 Dashboard</a:t>
            </a:r>
          </a:p>
          <a:p>
            <a:pPr>
              <a:defRPr sz="2000"/>
            </a:pPr>
            <a:r>
              <a:t>• Visão geral de FOs recentes</a:t>
            </a:r>
          </a:p>
          <a:p>
            <a:pPr>
              <a:defRPr sz="2000"/>
            </a:pPr>
            <a:r>
              <a:t>• Gráficos de tendências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📊 Estatísticas</a:t>
            </a:r>
          </a:p>
          <a:p>
            <a:pPr>
              <a:defRPr sz="2000"/>
            </a:pPr>
            <a:r>
              <a:t>• Análises por período</a:t>
            </a:r>
          </a:p>
          <a:p>
            <a:pPr>
              <a:defRPr sz="2000"/>
            </a:pPr>
            <a:r>
              <a:t>• Comparativos entre companhias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📝 Comportamento</a:t>
            </a:r>
          </a:p>
          <a:p>
            <a:pPr>
              <a:defRPr sz="2000"/>
            </a:pPr>
            <a:r>
              <a:t>• Notas atualizadas</a:t>
            </a:r>
          </a:p>
          <a:p>
            <a:pPr>
              <a:defRPr sz="2000"/>
            </a:pPr>
            <a:r>
              <a:t>• Histórico de mudanças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🔍 Auditoria</a:t>
            </a:r>
          </a:p>
          <a:p>
            <a:pPr>
              <a:defRPr sz="2000"/>
            </a:pPr>
            <a:r>
              <a:t>• Rastreabilidade completa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📚 Resumo do Treinamento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Sistema centralizado de FOs</a:t>
            </a:r>
          </a:p>
          <a:p>
            <a:pPr>
              <a:defRPr sz="2000"/>
            </a:pPr>
            <a:r>
              <a:t>2. 5 perfis de usuários com permissões específicas</a:t>
            </a:r>
          </a:p>
          <a:p>
            <a:pPr>
              <a:defRPr sz="2000"/>
            </a:pPr>
            <a:r>
              <a:t>3. Fluxo: Pendente → Sanção → Consolidar → Concluir → Encerrado</a:t>
            </a:r>
          </a:p>
          <a:p>
            <a:pPr>
              <a:defRPr sz="2000"/>
            </a:pPr>
            <a:r>
              <a:t>4. RICM: 46 faltas, 8 atenuantes, 10 agravantes</a:t>
            </a:r>
          </a:p>
          <a:p>
            <a:pPr>
              <a:defRPr sz="2000"/>
            </a:pPr>
            <a:r>
              <a:t>5. 4 tipos de sanções (Advertência, Repreensão, AOE, Retirada)</a:t>
            </a:r>
          </a:p>
          <a:p>
            <a:pPr>
              <a:defRPr sz="2000"/>
            </a:pPr>
            <a:r>
              <a:t>6. Documentos automáticos (Notas, Processos, Termos)</a:t>
            </a:r>
          </a:p>
          <a:p>
            <a:pPr>
              <a:defRPr sz="2000"/>
            </a:pPr>
            <a:r>
              <a:t>7. Assistente de IA com Google Gemini</a:t>
            </a:r>
          </a:p>
          <a:p>
            <a:pPr>
              <a:defRPr sz="2000"/>
            </a:pPr>
            <a:r>
              <a:t>8. Sempre use boas práticas!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🎯 Checklist do Operador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Ao Registrar FO:</a:t>
            </a:r>
          </a:p>
          <a:p>
            <a:pPr>
              <a:defRPr sz="2000"/>
            </a:pPr>
            <a:r>
              <a:t>☑️ Descrição clara e objetiva</a:t>
            </a:r>
          </a:p>
          <a:p>
            <a:pPr>
              <a:defRPr sz="2000"/>
            </a:pPr>
            <a:r>
              <a:t>☑️ Data e hora corretas</a:t>
            </a:r>
          </a:p>
          <a:p>
            <a:pPr>
              <a:defRPr sz="2000"/>
            </a:pPr>
            <a:r>
              <a:t>☑️ Número do aluno verificado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Ao Enquadrar:</a:t>
            </a:r>
          </a:p>
          <a:p>
            <a:pPr>
              <a:defRPr sz="2000"/>
            </a:pPr>
            <a:r>
              <a:t>☑️ Consultar RICM</a:t>
            </a:r>
          </a:p>
          <a:p>
            <a:pPr>
              <a:defRPr sz="2000"/>
            </a:pPr>
            <a:r>
              <a:t>☑️ Considerar agravantes e atenuantes</a:t>
            </a:r>
          </a:p>
          <a:p>
            <a:pPr>
              <a:defRPr sz="2000"/>
            </a:pPr>
            <a:r>
              <a:t>☑️ Verificar histórico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Ao Consolidar:</a:t>
            </a:r>
          </a:p>
          <a:p>
            <a:pPr>
              <a:defRPr sz="2000"/>
            </a:pPr>
            <a:r>
              <a:t>☑️ Revisar todos os campos</a:t>
            </a:r>
          </a:p>
          <a:p>
            <a:pPr>
              <a:defRPr sz="2000"/>
            </a:pPr>
            <a:r>
              <a:t>☑️ Documentos anexados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Fim do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Parabéns! Você está pronto para operar</a:t>
            </a:r>
          </a:p>
          <a:p>
            <a:r>
              <a:t>o Sistema de Gestão de FO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📞 Em Caso de Dúvidas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Consulte: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💬 Assistente de IA integrado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🔍 Auditoria para referências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👥 Seu comandante ou administrador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🌐 Sistema online:</a:t>
            </a:r>
          </a:p>
          <a:p>
            <a:pPr>
              <a:defRPr sz="2000"/>
            </a:pPr>
            <a:r>
              <a:t>   gestaocentralizadafo.netlify.app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